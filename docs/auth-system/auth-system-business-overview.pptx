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743407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743200" cy="5029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42646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PILOT PROJECT  ·  APPROVED v1.1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Authentication
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8862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7A2B8"/>
                </a:solidFill>
              </a:rPr>
              <a:t>Self-Hosted · Multi-Tenant · Standards-Compliant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4805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</a:rPr>
              <a:t>Business Overview  ·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65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Digital Worker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801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Eliminating vendor lock-in
and security gaps across
all our products.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217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4FF"/>
                </a:solidFill>
              </a:rPr>
              <a:t>PRD v1.1 · Status: ✅ Approved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We're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A2B8"/>
                </a:solidFill>
              </a:rPr>
              <a:t>Why build our own authentication platform?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66160" cy="210312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End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9280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Separate login per product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No Single Sign-On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Poor password reset UX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17320"/>
            <a:ext cx="3566160" cy="210312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270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9280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Re-implement auth in every service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Inconsistent security guarantees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Weeks to integrate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417320"/>
            <a:ext cx="3566160" cy="210312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5270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89280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Vendor lock-in (Auth0/Okta)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Unpredictable per-user pricing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No control over identity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5394960" cy="201168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21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Security &amp; Compliance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87368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No central audit log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Cannot demonstrate GDPR / SOC2 compliance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Difficulty revoking sessions across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611880"/>
            <a:ext cx="5760720" cy="201168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3721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Tenant Administrators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087368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No visibility into who is logged in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Cannot revoke sessions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No exportable audit logs for their 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BB0"/>
                </a:solidFill>
              </a:rPr>
              <a:t>Current vendor cost scales unpredictably at volume  ·  Sensitive identity data lives outside our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A2B8"/>
                </a:solidFill>
              </a:rPr>
              <a:t>A self-hosted, standards-compliant authentication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0" y="1463040"/>
            <a:ext cx="4480560" cy="128016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57276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Authentication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0116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A2B8"/>
                </a:solidFill>
              </a:rPr>
              <a:t>Self-hosted  ·  Multi-tenant  ·  API-first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200400" cy="164592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Replaces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47088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Auth0, Okta, Cognito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→ Zero per-MAU cost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→ Full data ownership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371600"/>
            <a:ext cx="3200400" cy="164592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Serves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847088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End Users via SSO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Developers via OAuth 2.0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Admins via Tenant APIs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3200400" cy="164592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3101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Built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675887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OAuth 2.0 / OIDC standards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JWT + Argon2id security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PostgreSQL + Redis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3200400"/>
            <a:ext cx="3200400" cy="164592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33101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Enables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675887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SOC2 &amp; GDPR compliance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Multi-org isolation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Integration in &lt; 2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057400"/>
            <a:ext cx="365760" cy="457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2057400"/>
            <a:ext cx="320040" cy="457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3977639"/>
            <a:ext cx="365760" cy="457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3977639"/>
            <a:ext cx="320040" cy="457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7A2B8"/>
                </a:solidFill>
              </a:rPr>
              <a:t>API-only design · No vendor lock-in · Identity data stays on our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Goals &amp; 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A2B8"/>
                </a:solidFill>
              </a:rPr>
              <a:t>Measurable outcomes we commit to delivering within 6 months of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192024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Business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92808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Eliminate per-MAU licensing costs from third-party auth vendors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Reduce new service auth integration from weeks → ≤ 2 days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7A2B8"/>
                </a:solidFill>
              </a:rPr>
              <a:t>●  </a:t>
            </a:r>
            <a:r>
              <a:rPr sz="1300" b="0">
                <a:solidFill>
                  <a:srgbClr val="FFFFFF"/>
                </a:solidFill>
              </a:rPr>
              <a:t>Achieve compliance posture for SOC2 Type II and GDPR audits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17320"/>
            <a:ext cx="5760720" cy="182880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813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Success Metrics  (6 months post-launch)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874519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New service integration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87451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8A745"/>
                </a:solidFill>
              </a:rPr>
              <a:t>≤ 2 business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13055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Login latency (p95)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1305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8A745"/>
                </a:solidFill>
              </a:rPr>
              <a:t>&lt; 300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38658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Auth error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3865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8A745"/>
                </a:solidFill>
              </a:rPr>
              <a:t>&lt; 0.1%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64261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MFA adoption — admin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6426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8A745"/>
                </a:solidFill>
              </a:rPr>
              <a:t>≥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89864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Security incidents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8986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8A745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15468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Audit log completeness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1546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8A745"/>
                </a:solidFill>
              </a:rPr>
              <a:t>100% of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41071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Tenant 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4107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8A745"/>
                </a:solidFill>
              </a:rPr>
              <a:t>&lt; 30 min self-service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66674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Developer satisfaction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666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8A745"/>
                </a:solidFill>
              </a:rPr>
              <a:t>≥ 4.2 /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20440"/>
            <a:ext cx="2697480" cy="13716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611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Cost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00507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 surprise per-user bills
as we 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520440"/>
            <a:ext cx="2697480" cy="13716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3611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Speed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00507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New services live in days,
not weeks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520440"/>
            <a:ext cx="2697480" cy="13716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611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00507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SOC2 + GDPR evidence
from day 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3520440"/>
            <a:ext cx="2697480" cy="13716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36118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Ownership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005072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Identity data fully
under our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Who Benefits From This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A2B8"/>
                </a:solidFill>
              </a:rPr>
              <a:t>Four personas — each with distinct needs and measurable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743200" cy="411480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Maya
End 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24688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Fast, frictionless login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Social login (Google)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Self-service password reset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Optional MFA for security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Clear error messages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417320"/>
            <a:ext cx="2743200" cy="41148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Carlos
Tenant Admin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79" y="2194560"/>
            <a:ext cx="24688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233172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Invite / disable / remove users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Assign roles &amp; permissions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Access audit logs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Enforce MFA for his org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Onboard new hire in &lt; 5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1417320"/>
            <a:ext cx="2743200" cy="4114800"/>
          </a:xfrm>
          <a:prstGeom prst="rect">
            <a:avLst/>
          </a:prstGeom>
          <a:solidFill>
            <a:srgbClr val="144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Priya
Developer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24688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33172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Standard OAuth 2.0 endpoints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JWT tokens with role claims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Clear error codes &amp; docs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Sandbox tenant for testing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Integrate in &lt; half a 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417320"/>
            <a:ext cx="2743200" cy="4114800"/>
          </a:xfrm>
          <a:prstGeom prst="rect">
            <a:avLst/>
          </a:prstGeom>
          <a:solidFill>
            <a:srgbClr val="4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Jordan
Platform 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194560"/>
            <a:ext cx="24688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33172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Provision tenants via API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Cross-tenant audit visibility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System health monitoring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Incident response tools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Provision new tenant in &lt; 10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9BB0"/>
                </a:solidFill>
              </a:rPr>
              <a:t>The auth platform serves all four simultaneously through a single, consistent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Scope — What We're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A2B8"/>
                </a:solidFill>
              </a:rPr>
              <a:t>18 Must-Have features form the MVP delivered over 9 sprints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4572000" cy="4846320"/>
          </a:xfrm>
          <a:prstGeom prst="rect">
            <a:avLst/>
          </a:prstGeom>
          <a:solidFill>
            <a:srgbClr val="0A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✅  Must Have  (MVP — 18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User registration &amp; email verification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Login (password) + password reset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Secure session management (JWT + refresh token rotation)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Multi-tenant data isolation (schema-per-tenant)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Tenant provisioning API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Role-Based Access Control (RBAC)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OAuth 2.0 — Authorization Code + PKCE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OAuth 2.0 — Client Credentials (M2M / service-to-service)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Social Login via Google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Rate limiting &amp; brute-force protection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Comprehensive audit log (append-only)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HTTPS enforcement + secure response headers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Admin user management API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28A7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Token introspection &amp; JWKS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417320"/>
            <a:ext cx="3566160" cy="4846320"/>
          </a:xfrm>
          <a:prstGeom prst="rect">
            <a:avLst/>
          </a:prstGeom>
          <a:solidFill>
            <a:srgbClr val="2B1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4813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7E14"/>
                </a:solidFill>
              </a:rPr>
              <a:t>🔶  Should 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9202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FD7E14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MFA via TOTP (authenticator app)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D7E14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Per-tenant MFA enforcement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D7E14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Microsoft / Entra ID social login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D7E14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Fine-grained permission model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D7E14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Self-service user profile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D7E14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Webhook notifications on auth events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D7E14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Session activity API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D7E14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Developer documentation site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417320"/>
            <a:ext cx="3017520" cy="4846320"/>
          </a:xfrm>
          <a:prstGeom prst="rect">
            <a:avLst/>
          </a:prstGeom>
          <a:solidFill>
            <a:srgbClr val="2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481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3545"/>
                </a:solidFill>
              </a:rPr>
              <a:t>🚫  Won't Do (This Pilot)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920240"/>
            <a:ext cx="2743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DC35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SAML 2.0 (enterprise phase)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DC35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Hosted login UI pages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DC35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Multi-region active-active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DC35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Native mobile SDKs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DC35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LDAP / Kerberos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DC35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Cross-tenant user identities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DC3545"/>
                </a:solidFill>
              </a:rPr>
              <a:t>●  </a:t>
            </a:r>
            <a:r>
              <a:rPr sz="1050" b="0">
                <a:solidFill>
                  <a:srgbClr val="FFFFFF"/>
                </a:solidFill>
              </a:rPr>
              <a:t>Billing / subscription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9BB0"/>
                </a:solidFill>
              </a:rPr>
              <a:t>Scope is fixed. Any additions require a formal change request with re-estimation.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It Works — 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A2B8"/>
                </a:solidFill>
              </a:rPr>
              <a:t>Key design decisions that protect our data and enable fast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49039" cy="141732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Schema-per-Tenant
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756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Each organisation's data lives in its own database schema.
Cross-tenant data leakage is architecturally impossible.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749039" cy="14173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08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JWT + Refresh
Token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756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Short-lived access tokens (15 min) + long-lived opaque refresh tokens.
Resource servers validate locally — no central bottleneck.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17320"/>
            <a:ext cx="3749039" cy="1417320"/>
          </a:xfrm>
          <a:prstGeom prst="rect">
            <a:avLst/>
          </a:prstGeom>
          <a:solidFill>
            <a:srgbClr val="144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508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Secrets Manager
(Vault)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0756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All signing keys and credentials stored in a dedicated vault.
Never in code, config files, or environment variables.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86200"/>
            <a:ext cx="3749039" cy="1417320"/>
          </a:xfrm>
          <a:prstGeom prst="rect">
            <a:avLst/>
          </a:prstGeom>
          <a:solidFill>
            <a:srgbClr val="4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776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API-Only
(No Hosted UI)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4456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Clean, testable API surface. Consuming apps build their own login UI.
Reduces scope by 2–4 sprints; forces good API-first design.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886200"/>
            <a:ext cx="3749039" cy="1417320"/>
          </a:xfrm>
          <a:prstGeom prst="rect">
            <a:avLst/>
          </a:prstGeom>
          <a:solidFill>
            <a:srgbClr val="5A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9776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OAuth 2.0 +
PKCE 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54456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Industry-standard protocol. Every integration is immediately
portable and auditor-recognisable.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886200"/>
            <a:ext cx="3749039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9776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1-Year Audit Log
+ Cold Archive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4456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8"/>
                </a:solidFill>
              </a:rPr>
              <a:t>Every auth event logged with user, IP, timestamp, outcome.
Satisfies SOC2 Type II evidence requirements.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9BB0"/>
                </a:solidFill>
              </a:rPr>
              <a:t>All architectural decisions are finalised (ADR-001 through ADR-009) and approved for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Delivery Timeline — 9 Sprints · ~20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A2B8"/>
                </a:solidFill>
              </a:rPr>
              <a:t>3 backend engineers · 1 QA · 0.5 DevOps · Velocity: 28–32 pts/sprint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32588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A2B8"/>
                </a:solidFill>
              </a:rPr>
              <a:t>S0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</a:rPr>
              <a:t>Wk 1–2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399032"/>
            <a:ext cx="365760" cy="292608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3807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Architecture
Spike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399032"/>
            <a:ext cx="9537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0"/>
                </a:solidFill>
              </a:rPr>
              <a:t>ERD · CI/CD · Staging 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180136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0136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</a:rPr>
              <a:t>Wk 3–4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1874519"/>
            <a:ext cx="1328467" cy="2926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8667" y="185623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Core Auth
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4387" y="1892807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A745"/>
                </a:solidFill>
              </a:rPr>
              <a:t>21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0187" y="1874519"/>
            <a:ext cx="82544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0"/>
                </a:solidFill>
              </a:rPr>
              <a:t>Register · Login · Email verify · Password 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227685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S2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276856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</a:rPr>
              <a:t>Wk 5–6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350008"/>
            <a:ext cx="1265207" cy="2926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5407" y="2331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Sessions,
Security,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1127" y="23682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A745"/>
                </a:solidFill>
              </a:rPr>
              <a:t>20 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6927" y="2350008"/>
            <a:ext cx="8317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0"/>
                </a:solidFill>
              </a:rPr>
              <a:t>Session refresh · Logout · Rate limiting · 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275234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D7E14"/>
                </a:solidFill>
              </a:rPr>
              <a:t>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75234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</a:rPr>
              <a:t>Wk 7–8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2825496"/>
            <a:ext cx="1454988" cy="29260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2807208"/>
            <a:ext cx="13178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Multi-Tenancy
Foundation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0908" y="28437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D7E14"/>
                </a:solidFill>
              </a:rPr>
              <a:t>23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6708" y="2825496"/>
            <a:ext cx="812792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0"/>
                </a:solidFill>
              </a:rPr>
              <a:t>Tenant provisioning · Schema isolation · Migration runner  ⚠️ Highest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" y="322783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S4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22783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</a:rPr>
              <a:t>Wk 9–10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3300984"/>
            <a:ext cx="948905" cy="2926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49105" y="32826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RBAC &amp;
Admin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4825" y="33192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A745"/>
                </a:solidFill>
              </a:rPr>
              <a:t>15 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80625" y="3300984"/>
            <a:ext cx="86340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0"/>
                </a:solidFill>
              </a:rPr>
              <a:t>Role assignment · JWT claims · Admin user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" y="37033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S5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70332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</a:rPr>
              <a:t>Wk 11–12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3776472"/>
            <a:ext cx="695864" cy="2926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96064" y="37581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OAuth 2.0
Auth 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41784" y="37947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A745"/>
                </a:solidFill>
              </a:rPr>
              <a:t>11 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27584" y="3776472"/>
            <a:ext cx="888704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0"/>
                </a:solidFill>
              </a:rPr>
              <a:t>Auth Code + PKCE · Client registration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" y="417880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S6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17880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</a:rPr>
              <a:t>Wk 13–14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4251960"/>
            <a:ext cx="822384" cy="2926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2584" y="42336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M2M + Google
Social Login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304" y="4270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A745"/>
                </a:solidFill>
              </a:rPr>
              <a:t>13 pts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54104" y="4251960"/>
            <a:ext cx="87605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0"/>
                </a:solidFill>
              </a:rPr>
              <a:t>Service-to-service tokens · Google OAuth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" y="465429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S7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4654296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</a:rPr>
              <a:t>Wk 15–16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54480" y="4727448"/>
            <a:ext cx="1012166" cy="29260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12366" y="470915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MFA + User
Profile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8086" y="47457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8A745"/>
                </a:solidFill>
              </a:rPr>
              <a:t>16 pts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43886" y="4727448"/>
            <a:ext cx="857074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0"/>
                </a:solidFill>
              </a:rPr>
              <a:t>TOTP MFA · MFA enforcement · Self-service profile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" y="5129783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D7E14"/>
                </a:solidFill>
              </a:rPr>
              <a:t>S8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5129783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</a:rPr>
              <a:t>Wk 17–18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54480" y="5202936"/>
            <a:ext cx="1581509" cy="29260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45920" y="5184647"/>
            <a:ext cx="144434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Hardening &amp;
Compliance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27429" y="5221223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D7E14"/>
                </a:solidFill>
              </a:rPr>
              <a:t>25 pts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229" y="5202936"/>
            <a:ext cx="800140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0"/>
                </a:solidFill>
              </a:rPr>
              <a:t>Pentest remediation · GDPR · Perf testing · Docs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" y="5605271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A2B8"/>
                </a:solidFill>
              </a:rPr>
              <a:t>S9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605271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</a:rPr>
              <a:t>Wk 19–20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54480" y="5678423"/>
            <a:ext cx="948905" cy="292608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49105" y="566013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Launch
Preparation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94825" y="569671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A2B8"/>
                </a:solidFill>
              </a:rPr>
              <a:t>15 pts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80625" y="5678423"/>
            <a:ext cx="863400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0"/>
                </a:solidFill>
              </a:rPr>
              <a:t>E2E testing · Go/no-go · Prod smoke tests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7A2B8"/>
                </a:solidFill>
              </a:rPr>
              <a:t>Total: ~159 story points  ·  ~20 weeks  ·  Team: 3 BE engineers, 1 QA, 0.5 DevOps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A2B8"/>
                </a:solidFill>
              </a:rPr>
              <a:t>Identified and planned for — not surprises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73152" cy="65836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247120" cy="658368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5389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[Medium / High]  Migration runner complexity (Sprint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647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0"/>
                </a:solidFill>
              </a:rPr>
              <a:t>Mitigation: Sprint 0 spike must deliver a working POC, not just a design. Non-negotiable gate.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73152" cy="65836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1247120" cy="658368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3113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[High / Medium]  OAuth 2.0 edge-case overrun (Sprint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203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0"/>
                </a:solidFill>
              </a:rPr>
              <a:t>Mitigation: Use a battle-tested OAuth library. Strict sprint timebox enforced.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73152" cy="65836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11247120" cy="658368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0837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[Low / Critical]  Cross-tenant data leak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192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0"/>
                </a:solidFill>
              </a:rPr>
              <a:t>Mitigation: Automated isolation test suite (US-08b) is non-negotiable Definition of Done for every data story.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73152" cy="65836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49039"/>
            <a:ext cx="11247120" cy="658368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85615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[Medium / High]  Pentest uncovers Critical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9651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0"/>
                </a:solidFill>
              </a:rPr>
              <a:t>Mitigation: Book penetration tester in Sprint 0 for Sprint 6/7 window. Do not wait for Sprint 8.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26279"/>
            <a:ext cx="73152" cy="65836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526279"/>
            <a:ext cx="11247120" cy="658368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62855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[High / Medium]  Scope creep — SAML / other enterprise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7375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0"/>
                </a:solidFill>
              </a:rPr>
              <a:t>Mitigation: SAML is explicitly Out of Scope (OS-01). Any addition requires formal change request + re-estimation.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03519"/>
            <a:ext cx="73152" cy="65836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303519"/>
            <a:ext cx="11247120" cy="658368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40095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[Medium / High]  Refresh token security edge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5099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0"/>
                </a:solidFill>
              </a:rPr>
              <a:t>Mitigation: Designate auth security champion. Mandatory RFC 6749/7009/7519/7636 review before Sprint 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9BB0"/>
                </a:solidFill>
              </a:rPr>
              <a:t>Risk register reviewed at start of every sprint. Early escalation is expected.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&amp; Compliance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A2B8"/>
                </a:solidFill>
              </a:rPr>
              <a:t>Built-in from day one — not bolted on at the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64008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A2B8"/>
                </a:solidFill>
              </a:rPr>
              <a:t>Password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Argon2id hashing — the gold standard. MD5/SHA1 rejected.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30552"/>
            <a:ext cx="5394960" cy="64008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762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A2B8"/>
                </a:solidFill>
              </a:rPr>
              <a:t>Token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RS256-signed JWTs. 15-minute access token TTL. Refresh tokens rotated on every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43784"/>
            <a:ext cx="5394960" cy="64008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895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A2B8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638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TLS 1.3 preferred. HSTS enforced. No HTTP fallback in production.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57016"/>
            <a:ext cx="5394960" cy="64008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0273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A2B8"/>
                </a:solidFill>
              </a:rPr>
              <a:t>Secrets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770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All keys &amp; credentials in HashiCorp Vault. Never in code or config files.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70248"/>
            <a:ext cx="5394960" cy="64008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159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A2B8"/>
                </a:solidFill>
              </a:rPr>
              <a:t>Brute Force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Per-IP and per-user rate limiting backed by Redis. Configurable per tenant.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83480"/>
            <a:ext cx="5394960" cy="64008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292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A2B8"/>
                </a:solidFill>
              </a:rPr>
              <a:t>OAuth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03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PKCE S256 mandatory for all authorization code flows. state param required.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417320"/>
            <a:ext cx="5577840" cy="640080"/>
          </a:xfrm>
          <a:prstGeom prst="rect">
            <a:avLst/>
          </a:prstGeom>
          <a:solidFill>
            <a:srgbClr val="0A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4630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GDPR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Right-to-erasure API. PII deletion across tenant schema. Audit entries anonymised.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130552"/>
            <a:ext cx="5577840" cy="640080"/>
          </a:xfrm>
          <a:prstGeom prst="rect">
            <a:avLst/>
          </a:prstGeom>
          <a:solidFill>
            <a:srgbClr val="0A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1762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SOC2 CC6.2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505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All auth events logged: user, IP, timestamp, outcome. 100% completeness target.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843784"/>
            <a:ext cx="5577840" cy="640080"/>
          </a:xfrm>
          <a:prstGeom prst="rect">
            <a:avLst/>
          </a:prstGeom>
          <a:solidFill>
            <a:srgbClr val="0A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88950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SOC2 CC6.3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1638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Access revocation takes effect within one access token TTL (15 minutes).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557016"/>
            <a:ext cx="5577840" cy="640080"/>
          </a:xfrm>
          <a:prstGeom prst="rect">
            <a:avLst/>
          </a:prstGeom>
          <a:solidFill>
            <a:srgbClr val="0A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6027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Audit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8770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Append-only. 1-year hot retention + cold archive. Tenant-admin read-only access.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270248"/>
            <a:ext cx="5577840" cy="640080"/>
          </a:xfrm>
          <a:prstGeom prst="rect">
            <a:avLst/>
          </a:prstGeom>
          <a:solidFill>
            <a:srgbClr val="0A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3159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Penetration 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5902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External pentest scheduled for Sprint 6/7 window. Findings remediated in Sprint 8.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983480"/>
            <a:ext cx="5577840" cy="640080"/>
          </a:xfrm>
          <a:prstGeom prst="rect">
            <a:avLst/>
          </a:prstGeom>
          <a:solidFill>
            <a:srgbClr val="0A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0292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</a:rPr>
              <a:t>OWASP Top 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Full review in Sprint 8. SQL injection and XSS prevented by design (parameterised queries, CSP headers).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7A2B8"/>
                </a:solidFill>
              </a:rPr>
              <a:t>SOC2 Type II evidence collection begins at launch · Compliance consultant engaged by Sprint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 &amp; Decisions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7A2B8"/>
                </a:solidFill>
              </a:rPr>
              <a:t>Status: PRD v1.1 approved · Ready for development kickoff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09728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338560" cy="155448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73152" cy="1554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A745"/>
                </a:solidFill>
              </a:rPr>
              <a:t>✅  DONE — No Action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28A745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PRD v1.1 finalised — all open questions resolved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8A745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9 Architecture Decision Records (ADR-001 to ADR-009) locked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8A745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Full product backlog estimated (~159 points)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28A745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Sprint plan defined across 9 sprints / ~20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54680"/>
            <a:ext cx="11338560" cy="155448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73152" cy="15544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7E14"/>
                </a:solidFill>
              </a:rPr>
              <a:t>🔶  In Progress — Confirm This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FD7E14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Sprint 0 kickoff — architecture spike tasks assigned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D7E14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Book external penetration tester (Sprint 6/7 window)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D7E14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Engage compliance consultant (target: before Sprint 2)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D7E14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Provision staging: PostgreSQL + Redis + secrets manager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92040"/>
            <a:ext cx="11338560" cy="1554480"/>
          </a:xfrm>
          <a:prstGeom prst="rect">
            <a:avLst/>
          </a:prstGeom>
          <a:solidFill>
            <a:srgbClr val="16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892040"/>
            <a:ext cx="73152" cy="155448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8347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A2B8"/>
                </a:solidFill>
              </a:rPr>
              <a:t>📋  Business Decisions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94959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Confirm team staffing: 3 BE + 1 QA + 0.5 DevOps available?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Sign off on default rate-limiting / lockout thresholds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Confirm Google Cloud project for OAuth credentials (Sprint 6)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7A2B8"/>
                </a:solidFill>
              </a:rPr>
              <a:t>●  </a:t>
            </a:r>
            <a:r>
              <a:rPr sz="1200" b="0">
                <a:solidFill>
                  <a:srgbClr val="FFFFFF"/>
                </a:solidFill>
              </a:rPr>
              <a:t>Approve formal scope change process for any new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9BB0"/>
                </a:solidFill>
              </a:rPr>
              <a:t>Questions? Reach out to the Product Owner — PRD v1.1 is the single source of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